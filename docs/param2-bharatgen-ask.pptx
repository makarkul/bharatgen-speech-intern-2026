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384048" cy="41148"/>
          </a:xfrm>
          <a:prstGeom prst="rect">
            <a:avLst/>
          </a:prstGeom>
          <a:solidFill>
            <a:srgbClr val="FF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B22E"/>
                </a:solidFill>
                <a:latin typeface="Segoe UI"/>
              </a:rPr>
              <a:t>WHAT WE DID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AE6F2"/>
                </a:solidFill>
                <a:latin typeface="Segoe UI"/>
              </a:rPr>
              <a:t>We built a speech-to-speech translator on </a:t>
            </a:r>
            <a:r>
              <a:rPr sz="3000" b="1" i="0">
                <a:solidFill>
                  <a:srgbClr val="FFB22E"/>
                </a:solidFill>
                <a:latin typeface="Segoe UI"/>
              </a:rPr>
              <a:t>Param-2</a:t>
            </a:r>
            <a:r>
              <a:rPr sz="3000" b="1" i="0">
                <a:solidFill>
                  <a:srgbClr val="EAE6F2"/>
                </a:solidFill>
                <a:latin typeface="Segoe U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6889"/>
                </a:solidFill>
                <a:latin typeface="Consolas"/>
              </a:rPr>
              <a:t>Shrutam-2</a:t>
            </a:r>
            <a:r>
              <a:rPr sz="950" b="0" i="0">
                <a:solidFill>
                  <a:srgbClr val="FFB22E"/>
                </a:solidFill>
                <a:latin typeface="Consolas"/>
              </a:rPr>
              <a:t>  →  </a:t>
            </a:r>
            <a:r>
              <a:rPr sz="950" b="0" i="0">
                <a:solidFill>
                  <a:srgbClr val="6E6889"/>
                </a:solidFill>
                <a:latin typeface="Consolas"/>
              </a:rPr>
              <a:t>Param-2</a:t>
            </a:r>
            <a:r>
              <a:rPr sz="950" b="0" i="0">
                <a:solidFill>
                  <a:srgbClr val="FFB22E"/>
                </a:solidFill>
                <a:latin typeface="Consolas"/>
              </a:rPr>
              <a:t>  →  </a:t>
            </a:r>
            <a:r>
              <a:rPr sz="950" b="0" i="0">
                <a:solidFill>
                  <a:srgbClr val="6E6889"/>
                </a:solidFill>
                <a:latin typeface="Consolas"/>
              </a:rPr>
              <a:t>Sooktam-2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93B4"/>
                </a:solidFill>
                <a:latin typeface="Segoe UI"/>
              </a:rPr>
              <a:t>Speak one Indian language — hear it spoken back in another. Three models chained end to end, deployed on a single H100.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2384983" cy="1371600"/>
          </a:xfrm>
          <a:prstGeom prst="roundRect">
            <a:avLst>
              <a:gd name="adj" fmla="val 8000"/>
            </a:avLst>
          </a:prstGeom>
          <a:solidFill>
            <a:srgbClr val="1C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46304" bIns="12801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2BB6A6"/>
                </a:solidFill>
                <a:latin typeface="Consolas"/>
              </a:rPr>
              <a:t>CAPTURE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AE6F2"/>
                </a:solidFill>
                <a:latin typeface="Segoe UI"/>
              </a:rPr>
              <a:t>ffmpeg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93B4"/>
                </a:solidFill>
                <a:latin typeface="Segoe UI"/>
              </a:rPr>
              <a:t>browser mic → 16 kHz wav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2495" y="2697480"/>
            <a:ext cx="40233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6E6889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263" y="2697480"/>
            <a:ext cx="2384983" cy="1371600"/>
          </a:xfrm>
          <a:prstGeom prst="roundRect">
            <a:avLst>
              <a:gd name="adj" fmla="val 8000"/>
            </a:avLst>
          </a:prstGeom>
          <a:solidFill>
            <a:srgbClr val="1C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46304" bIns="12801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2BB6A6"/>
                </a:solidFill>
                <a:latin typeface="Consolas"/>
              </a:rPr>
              <a:t>TRANSCRIBE · ASR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AE6F2"/>
                </a:solidFill>
                <a:latin typeface="Segoe UI"/>
              </a:rPr>
              <a:t>Shrutam-2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93B4"/>
                </a:solidFill>
                <a:latin typeface="Segoe UI"/>
              </a:rPr>
              <a:t>speech →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4679" y="2697480"/>
            <a:ext cx="40233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6E6889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2697480"/>
            <a:ext cx="2384983" cy="1371600"/>
          </a:xfrm>
          <a:prstGeom prst="roundRect">
            <a:avLst>
              <a:gd name="adj" fmla="val 8000"/>
            </a:avLst>
          </a:prstGeom>
          <a:solidFill>
            <a:srgbClr val="1C1830"/>
          </a:solidFill>
          <a:ln w="25400">
            <a:solidFill>
              <a:srgbClr val="FFB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46304" bIns="12801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B22E"/>
                </a:solidFill>
                <a:latin typeface="Consolas"/>
              </a:rPr>
              <a:t>TRANSLATE · LLM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AE6F2"/>
                </a:solidFill>
                <a:latin typeface="Segoe UI"/>
              </a:rPr>
              <a:t>Param-2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93B4"/>
                </a:solidFill>
                <a:latin typeface="Segoe UI"/>
              </a:rPr>
              <a:t>text → text, target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6863" y="2697480"/>
            <a:ext cx="40233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6E6889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66631" y="2697480"/>
            <a:ext cx="2384983" cy="1371600"/>
          </a:xfrm>
          <a:prstGeom prst="roundRect">
            <a:avLst>
              <a:gd name="adj" fmla="val 8000"/>
            </a:avLst>
          </a:prstGeom>
          <a:solidFill>
            <a:srgbClr val="1C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46304" bIns="12801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2BB6A6"/>
                </a:solidFill>
                <a:latin typeface="Consolas"/>
              </a:rPr>
              <a:t>SYNTHESIZE · TTS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AE6F2"/>
                </a:solidFill>
                <a:latin typeface="Segoe UI"/>
              </a:rPr>
              <a:t>Sooktam-2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93B4"/>
                </a:solidFill>
                <a:latin typeface="Segoe UI"/>
              </a:rPr>
              <a:t>text → spoken voice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70832"/>
            <a:ext cx="3362858" cy="1417320"/>
          </a:xfrm>
          <a:prstGeom prst="roundRect">
            <a:avLst>
              <a:gd name="adj" fmla="val 7000"/>
            </a:avLst>
          </a:prstGeom>
          <a:solidFill>
            <a:srgbClr val="1C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46304" bIns="12801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B22E"/>
                </a:solidFill>
                <a:latin typeface="Consolas"/>
              </a:rPr>
              <a:t>12 LANGUAGES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AE6F2"/>
                </a:solidFill>
                <a:latin typeface="Segoe UI"/>
              </a:rPr>
              <a:t>Indic, any-to-any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93B4"/>
                </a:solidFill>
                <a:latin typeface="Segoe UI"/>
              </a:rPr>
              <a:t>Hindi, Tamil, Telugu, Marathi, Bengali, Kannada &amp; more.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4418" y="4370832"/>
            <a:ext cx="3362858" cy="1417320"/>
          </a:xfrm>
          <a:prstGeom prst="roundRect">
            <a:avLst>
              <a:gd name="adj" fmla="val 7000"/>
            </a:avLst>
          </a:prstGeom>
          <a:solidFill>
            <a:srgbClr val="1C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46304" bIns="12801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B22E"/>
                </a:solidFill>
                <a:latin typeface="Consolas"/>
              </a:rPr>
              <a:t>LIVE WEB APP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AE6F2"/>
                </a:solidFill>
                <a:latin typeface="Segoe UI"/>
              </a:rPr>
              <a:t>Record in the browser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93B4"/>
                </a:solidFill>
                <a:latin typeface="Segoe UI"/>
              </a:rPr>
              <a:t>Get the transcript, the translation, and the spoken reply back — with per-stage timing.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8756" y="4370832"/>
            <a:ext cx="3362858" cy="1417320"/>
          </a:xfrm>
          <a:prstGeom prst="roundRect">
            <a:avLst>
              <a:gd name="adj" fmla="val 7000"/>
            </a:avLst>
          </a:prstGeom>
          <a:solidFill>
            <a:srgbClr val="1C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46304" bIns="12801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B22E"/>
                </a:solidFill>
                <a:latin typeface="Consolas"/>
              </a:rPr>
              <a:t>ONE COMMAND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AE6F2"/>
                </a:solidFill>
                <a:latin typeface="Segoe UI"/>
              </a:rPr>
              <a:t>pod_setup.sh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93B4"/>
                </a:solidFill>
                <a:latin typeface="Segoe UI"/>
              </a:rPr>
              <a:t>Brings up all three models on the H100; ~30s warm restart after the first boot.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384048" cy="41148"/>
          </a:xfrm>
          <a:prstGeom prst="rect">
            <a:avLst/>
          </a:prstGeom>
          <a:solidFill>
            <a:srgbClr val="FF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B22E"/>
                </a:solidFill>
                <a:latin typeface="Segoe UI"/>
              </a:rPr>
              <a:t>WHAT WE SAW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AE6F2"/>
                </a:solidFill>
                <a:latin typeface="Segoe UI"/>
              </a:rPr>
              <a:t>Translation is the bottleneck — it's the </a:t>
            </a:r>
            <a:r>
              <a:rPr sz="2700" b="1" i="0">
                <a:solidFill>
                  <a:srgbClr val="FFB22E"/>
                </a:solidFill>
                <a:latin typeface="Segoe UI"/>
              </a:rPr>
              <a:t>model</a:t>
            </a:r>
            <a:r>
              <a:rPr sz="2700" b="1" i="0">
                <a:solidFill>
                  <a:srgbClr val="EAE6F2"/>
                </a:solidFill>
                <a:latin typeface="Segoe UI"/>
              </a:rPr>
              <a:t>, not the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6889"/>
                </a:solidFill>
                <a:latin typeface="Consolas"/>
              </a:rPr>
              <a:t>Shrutam-2</a:t>
            </a:r>
            <a:r>
              <a:rPr sz="950" b="0" i="0">
                <a:solidFill>
                  <a:srgbClr val="FFB22E"/>
                </a:solidFill>
                <a:latin typeface="Consolas"/>
              </a:rPr>
              <a:t>  →  </a:t>
            </a:r>
            <a:r>
              <a:rPr sz="950" b="0" i="0">
                <a:solidFill>
                  <a:srgbClr val="6E6889"/>
                </a:solidFill>
                <a:latin typeface="Consolas"/>
              </a:rPr>
              <a:t>Param-2</a:t>
            </a:r>
            <a:r>
              <a:rPr sz="950" b="0" i="0">
                <a:solidFill>
                  <a:srgbClr val="FFB22E"/>
                </a:solidFill>
                <a:latin typeface="Consolas"/>
              </a:rPr>
              <a:t>  →  </a:t>
            </a:r>
            <a:r>
              <a:rPr sz="950" b="0" i="0">
                <a:solidFill>
                  <a:srgbClr val="6E6889"/>
                </a:solidFill>
                <a:latin typeface="Consolas"/>
              </a:rPr>
              <a:t>Sooktam-2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93B4"/>
                </a:solidFill>
                <a:latin typeface="Segoe UI"/>
              </a:rPr>
              <a:t>Where the ~10-second round trip goes — 24 profiled runs on one H100.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42032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E6F2"/>
                </a:solidFill>
                <a:latin typeface="Segoe UI"/>
              </a:rPr>
              <a:t>Translate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6E6889"/>
                </a:solidFill>
                <a:latin typeface="Consolas"/>
              </a:rPr>
              <a:t>Param-2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688336"/>
            <a:ext cx="6629400" cy="256032"/>
          </a:xfrm>
          <a:prstGeom prst="roundRect">
            <a:avLst>
              <a:gd name="adj" fmla="val 50000"/>
            </a:avLst>
          </a:prstGeom>
          <a:solidFill>
            <a:srgbClr val="2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88920" y="2688336"/>
            <a:ext cx="6629400" cy="256032"/>
          </a:xfrm>
          <a:prstGeom prst="roundRect">
            <a:avLst>
              <a:gd name="adj" fmla="val 50000"/>
            </a:avLst>
          </a:prstGeom>
          <a:solidFill>
            <a:srgbClr val="FF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82912" y="2542032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E6F2"/>
                </a:solidFill>
                <a:latin typeface="Consolas"/>
              </a:rPr>
              <a:t>6.9s · 67%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90672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E6F2"/>
                </a:solidFill>
                <a:latin typeface="Segoe UI"/>
              </a:rPr>
              <a:t>Synthesize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6E6889"/>
                </a:solidFill>
                <a:latin typeface="Consolas"/>
              </a:rPr>
              <a:t>Sooktam-2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3236976"/>
            <a:ext cx="6629400" cy="256032"/>
          </a:xfrm>
          <a:prstGeom prst="roundRect">
            <a:avLst>
              <a:gd name="adj" fmla="val 50000"/>
            </a:avLst>
          </a:prstGeom>
          <a:solidFill>
            <a:srgbClr val="2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88920" y="3236976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2B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82912" y="3090672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E6F2"/>
                </a:solidFill>
                <a:latin typeface="Consolas"/>
              </a:rPr>
              <a:t>2.7s · 27%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39311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E6F2"/>
                </a:solidFill>
                <a:latin typeface="Segoe UI"/>
              </a:rPr>
              <a:t>Transcribe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6E6889"/>
                </a:solidFill>
                <a:latin typeface="Consolas"/>
              </a:rPr>
              <a:t>Shrutam-2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3785615"/>
            <a:ext cx="6629400" cy="256032"/>
          </a:xfrm>
          <a:prstGeom prst="roundRect">
            <a:avLst>
              <a:gd name="adj" fmla="val 50000"/>
            </a:avLst>
          </a:prstGeom>
          <a:solidFill>
            <a:srgbClr val="2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88920" y="3785615"/>
            <a:ext cx="497204" cy="256032"/>
          </a:xfrm>
          <a:prstGeom prst="roundRect">
            <a:avLst>
              <a:gd name="adj" fmla="val 50000"/>
            </a:avLst>
          </a:prstGeom>
          <a:solidFill>
            <a:srgbClr val="2B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82912" y="3639311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E6F2"/>
                </a:solidFill>
                <a:latin typeface="Consolas"/>
              </a:rPr>
              <a:t>0.6s · 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87952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E6F2"/>
                </a:solidFill>
                <a:latin typeface="Segoe UI"/>
              </a:rPr>
              <a:t>Capture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6E6889"/>
                </a:solidFill>
                <a:latin typeface="Consolas"/>
              </a:rPr>
              <a:t>ffmpeg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4334256"/>
            <a:ext cx="6629400" cy="256032"/>
          </a:xfrm>
          <a:prstGeom prst="roundRect">
            <a:avLst>
              <a:gd name="adj" fmla="val 50000"/>
            </a:avLst>
          </a:prstGeom>
          <a:solidFill>
            <a:srgbClr val="2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88920" y="4334256"/>
            <a:ext cx="132588" cy="256032"/>
          </a:xfrm>
          <a:prstGeom prst="roundRect">
            <a:avLst>
              <a:gd name="adj" fmla="val 50000"/>
            </a:avLst>
          </a:prstGeom>
          <a:solidFill>
            <a:srgbClr val="6E6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82912" y="4187952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E6F2"/>
                </a:solidFill>
                <a:latin typeface="Consolas"/>
              </a:rPr>
              <a:t>0.1s · 1%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29200"/>
            <a:ext cx="10911535" cy="1325880"/>
          </a:xfrm>
          <a:prstGeom prst="roundRect">
            <a:avLst>
              <a:gd name="adj" fmla="val 5000"/>
            </a:avLst>
          </a:prstGeom>
          <a:solidFill>
            <a:srgbClr val="1C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46304" bIns="128016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EAE6F2"/>
                </a:solidFill>
                <a:latin typeface="Segoe UI"/>
              </a:rPr>
              <a:t>The tail is the real risk: </a:t>
            </a:r>
            <a:r>
              <a:rPr sz="1350" b="1" i="0">
                <a:solidFill>
                  <a:srgbClr val="FFB22E"/>
                </a:solidFill>
                <a:latin typeface="Segoe UI"/>
              </a:rPr>
              <a:t>the round trip is ~10s at the median, but p90 ~27s — and a ~60s cold start.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93B4"/>
                </a:solidFill>
                <a:latin typeface="Segoe UI"/>
              </a:rPr>
              <a:t>It's Param-2's variable “thinking,” not the rig: the service hop is </a:t>
            </a:r>
            <a:r>
              <a:rPr sz="1200" b="1" i="0">
                <a:solidFill>
                  <a:srgbClr val="2BB6A6"/>
                </a:solidFill>
                <a:latin typeface="Segoe UI"/>
              </a:rPr>
              <a:t>9 ms</a:t>
            </a:r>
            <a:r>
              <a:rPr sz="1200" b="0" i="0">
                <a:solidFill>
                  <a:srgbClr val="9A93B4"/>
                </a:solidFill>
                <a:latin typeface="Segoe UI"/>
              </a:rPr>
              <a:t>, and input length doesn't predict time (139 chars → 6.8s; 175 chars → 35s). ASR and TTS are already fast — the translator is the only lever.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29200"/>
            <a:ext cx="64008" cy="1325880"/>
          </a:xfrm>
          <a:prstGeom prst="rect">
            <a:avLst/>
          </a:prstGeom>
          <a:solidFill>
            <a:srgbClr val="FF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384048" cy="41148"/>
          </a:xfrm>
          <a:prstGeom prst="rect">
            <a:avLst/>
          </a:prstGeom>
          <a:solidFill>
            <a:srgbClr val="FF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B22E"/>
                </a:solidFill>
                <a:latin typeface="Segoe UI"/>
              </a:rPr>
              <a:t>WHAT WE'RE 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AE6F2"/>
                </a:solidFill>
                <a:latin typeface="Segoe UI"/>
              </a:rPr>
              <a:t>A lighter </a:t>
            </a:r>
            <a:r>
              <a:rPr sz="3000" b="1" i="0">
                <a:solidFill>
                  <a:srgbClr val="FFB22E"/>
                </a:solidFill>
                <a:latin typeface="Segoe UI"/>
              </a:rPr>
              <a:t>Param-2</a:t>
            </a:r>
            <a:r>
              <a:rPr sz="3000" b="1" i="0">
                <a:solidFill>
                  <a:srgbClr val="EAE6F2"/>
                </a:solidFill>
                <a:latin typeface="Segoe UI"/>
              </a:rPr>
              <a:t> for the translate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6889"/>
                </a:solidFill>
                <a:latin typeface="Consolas"/>
              </a:rPr>
              <a:t>Shrutam-2</a:t>
            </a:r>
            <a:r>
              <a:rPr sz="950" b="0" i="0">
                <a:solidFill>
                  <a:srgbClr val="FFB22E"/>
                </a:solidFill>
                <a:latin typeface="Consolas"/>
              </a:rPr>
              <a:t>  →  </a:t>
            </a:r>
            <a:r>
              <a:rPr sz="950" b="0" i="0">
                <a:solidFill>
                  <a:srgbClr val="6E6889"/>
                </a:solidFill>
                <a:latin typeface="Consolas"/>
              </a:rPr>
              <a:t>Param-2</a:t>
            </a:r>
            <a:r>
              <a:rPr sz="950" b="0" i="0">
                <a:solidFill>
                  <a:srgbClr val="FFB22E"/>
                </a:solidFill>
                <a:latin typeface="Consolas"/>
              </a:rPr>
              <a:t>  →  </a:t>
            </a:r>
            <a:r>
              <a:rPr sz="950" b="0" i="0">
                <a:solidFill>
                  <a:srgbClr val="6E6889"/>
                </a:solidFill>
                <a:latin typeface="Consolas"/>
              </a:rPr>
              <a:t>Sooktam-2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93B4"/>
                </a:solidFill>
                <a:latin typeface="Segoe UI"/>
              </a:rPr>
              <a:t>Param-2 is a 17B “thinking” model — great for reasoning, heavyweight for a narrow translation. Would any of these be possible?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3362858" cy="2670048"/>
          </a:xfrm>
          <a:prstGeom prst="roundRect">
            <a:avLst>
              <a:gd name="adj" fmla="val 6000"/>
            </a:avLst>
          </a:prstGeom>
          <a:solidFill>
            <a:srgbClr val="1C1830"/>
          </a:solidFill>
          <a:ln w="22225">
            <a:solidFill>
              <a:srgbClr val="FFB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676656" bIns="12801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2BB6A6"/>
                </a:solidFill>
                <a:latin typeface="Consolas"/>
              </a:rPr>
              <a:t>FOOTPRINT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 i="0">
                <a:solidFill>
                  <a:srgbClr val="EAE6F2"/>
                </a:solidFill>
                <a:latin typeface="Segoe UI"/>
              </a:rPr>
              <a:t>A quantized Param-2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93B4"/>
                </a:solidFill>
                <a:latin typeface="Segoe UI"/>
              </a:rPr>
              <a:t>An INT8 / FP8 / 4-bit build — smaller on the GPU and faster to decode, so it fits beyond an 80 GB H100.</a:t>
            </a:r>
          </a:p>
        </p:txBody>
      </p:sp>
      <p:sp>
        <p:nvSpPr>
          <p:cNvPr id="8" name="Oval 7"/>
          <p:cNvSpPr/>
          <p:nvPr/>
        </p:nvSpPr>
        <p:spPr>
          <a:xfrm>
            <a:off x="822959" y="2862072"/>
            <a:ext cx="420624" cy="420624"/>
          </a:xfrm>
          <a:prstGeom prst="ellipse">
            <a:avLst/>
          </a:prstGeom>
          <a:solidFill>
            <a:srgbClr val="251F3D"/>
          </a:solidFill>
          <a:ln w="15875">
            <a:solidFill>
              <a:srgbClr val="FFB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B22E"/>
                </a:solidFill>
                <a:latin typeface="Consola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2697480"/>
            <a:ext cx="3362858" cy="2670048"/>
          </a:xfrm>
          <a:prstGeom prst="roundRect">
            <a:avLst>
              <a:gd name="adj" fmla="val 6000"/>
            </a:avLst>
          </a:prstGeom>
          <a:solidFill>
            <a:srgbClr val="1C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676656" bIns="12801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2BB6A6"/>
                </a:solidFill>
                <a:latin typeface="Consolas"/>
              </a:rPr>
              <a:t>RIGHT-SIZED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 i="0">
                <a:solidFill>
                  <a:srgbClr val="EAE6F2"/>
                </a:solidFill>
                <a:latin typeface="Segoe UI"/>
              </a:rPr>
              <a:t>A translation-specialized model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93B4"/>
                </a:solidFill>
                <a:latin typeface="Segoe UI"/>
              </a:rPr>
              <a:t>A smaller, distilled BharatGen model built for translation — instead of running a general 17B reasoning LLM for one MT step.</a:t>
            </a:r>
          </a:p>
        </p:txBody>
      </p:sp>
      <p:sp>
        <p:nvSpPr>
          <p:cNvPr id="10" name="Oval 9"/>
          <p:cNvSpPr/>
          <p:nvPr/>
        </p:nvSpPr>
        <p:spPr>
          <a:xfrm>
            <a:off x="4597298" y="2862072"/>
            <a:ext cx="420624" cy="420624"/>
          </a:xfrm>
          <a:prstGeom prst="ellipse">
            <a:avLst/>
          </a:prstGeom>
          <a:solidFill>
            <a:srgbClr val="251F3D"/>
          </a:solidFill>
          <a:ln w="15875">
            <a:solidFill>
              <a:srgbClr val="FFB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B22E"/>
                </a:solidFill>
                <a:latin typeface="Consolas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8756" y="2697480"/>
            <a:ext cx="3362858" cy="2670048"/>
          </a:xfrm>
          <a:prstGeom prst="roundRect">
            <a:avLst>
              <a:gd name="adj" fmla="val 6000"/>
            </a:avLst>
          </a:prstGeom>
          <a:solidFill>
            <a:srgbClr val="1C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676656" bIns="12801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2BB6A6"/>
                </a:solidFill>
                <a:latin typeface="Consolas"/>
              </a:rPr>
              <a:t>DECODE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 i="0">
                <a:solidFill>
                  <a:srgbClr val="EAE6F2"/>
                </a:solidFill>
                <a:latin typeface="Segoe UI"/>
              </a:rPr>
              <a:t>A non-thinking / capped mode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93B4"/>
                </a:solidFill>
                <a:latin typeface="Segoe UI"/>
              </a:rPr>
              <a:t>Skip or cap the &lt;think&gt; budget for translation, where step-by-step reasoning isn't needed — directly cutting the variable slow tail.</a:t>
            </a:r>
          </a:p>
        </p:txBody>
      </p:sp>
      <p:sp>
        <p:nvSpPr>
          <p:cNvPr id="12" name="Oval 11"/>
          <p:cNvSpPr/>
          <p:nvPr/>
        </p:nvSpPr>
        <p:spPr>
          <a:xfrm>
            <a:off x="8371636" y="2862072"/>
            <a:ext cx="420624" cy="420624"/>
          </a:xfrm>
          <a:prstGeom prst="ellipse">
            <a:avLst/>
          </a:prstGeom>
          <a:solidFill>
            <a:srgbClr val="251F3D"/>
          </a:solidFill>
          <a:ln w="15875">
            <a:solidFill>
              <a:srgbClr val="FFB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B22E"/>
                </a:solidFill>
                <a:latin typeface="Consolas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53212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25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 bIns="12801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AE6F2"/>
                </a:solidFill>
                <a:latin typeface="Segoe UI"/>
              </a:rPr>
              <a:t>Any of these keeps the pipeline </a:t>
            </a:r>
            <a:r>
              <a:rPr sz="1350" b="1" i="0">
                <a:solidFill>
                  <a:srgbClr val="FFB22E"/>
                </a:solidFill>
                <a:latin typeface="Segoe UI"/>
              </a:rPr>
              <a:t>100% BharatGen models</a:t>
            </a:r>
            <a:r>
              <a:rPr sz="1350" b="0" i="0">
                <a:solidFill>
                  <a:srgbClr val="EAE6F2"/>
                </a:solidFill>
                <a:latin typeface="Segoe UI"/>
              </a:rPr>
              <a:t> — while making it real-time and demo-ready.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